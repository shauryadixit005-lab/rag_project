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8067-E3FF-B953-10B5-2FAAED199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34A2B-9D78-08C8-D321-6E6DB222A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A4338-B731-67FA-5675-CE6B5EBC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AD0AA-4AE4-D4B1-099C-44A971BF5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C769D-2617-C747-8541-8275C964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62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9ADB-CE60-02AA-7054-BE1EA6A6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3CE79-E202-A9C6-6B46-14425F951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E81FD-28F3-3957-CD90-6DD75D83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7BC4-80D9-D184-0C1E-7B034FC32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BA639-E267-0721-83A9-9EDD378BE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5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7FD1-0F93-9441-184C-56C60BCD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0EC37-334C-C485-A3DA-9D9A1C2B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2B760-7375-4F0F-963A-61E4CF0D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516CD-7829-B9B7-8560-100F1095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3B78C-0AF9-A4A3-6226-36D88807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40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1676-95DC-A21C-5DB0-CB269E69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A7B38-355B-0EF5-0292-D2E624BBA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CA1C2-2B57-1A10-64CF-6C1C02AE1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45EA9-A406-E089-A281-088FC384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FDBF0-1AC0-02EF-64C2-EEAB0827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26A31-ADA6-ED1D-92D3-651B86DC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70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E743-0806-D8D3-1D35-CE844A67E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A4256-4031-9A8B-F043-E44C63F1C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A0385-1049-2B86-2F6B-352D06CC4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2DDCF8-DCA8-E471-4FA4-074971A07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8D2396-5036-A4D2-C943-F76FF8534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FC37-FE25-AF53-524D-D1D82AF6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97369-78F3-8FF0-9A0D-356A27F9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B418F-7FC5-D4E0-F470-E66A483B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97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AD109-1982-D316-BD5E-A28DB7DE8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0B6DD4-2C06-D449-D279-3DAEC7D6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C2B3C-75B0-6FF6-ADA0-D716FAAB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3D7A2-F08E-9BBE-0355-EC99BD80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055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EE399-60A7-59AF-48B4-11BB4444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45951-9793-504A-6AAA-18843D4B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A5844-49AB-8957-C102-6D785225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628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F2D4-2F24-101C-8060-FB9A923B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06850-4AD6-F349-C7EE-E9FE21D37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60375-A309-5EFF-BD77-9C59E5760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4EAB7-3C9D-5F55-37A1-A406A022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8CB81-4055-E2D3-3B61-4F8BFE517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134B9-7477-7AA3-9221-84A38DDA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86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3627-0A9D-796F-58DE-B6F5EB66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083878-191E-2390-804E-D221E54A2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D3050-03C9-7845-935C-D9C346C9E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0926B-AD03-7B90-3FD7-C136A05B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CAE43-D1EF-A121-280C-39621BF2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7682A-B2D7-1201-BEAE-147BC087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6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241E-5BB4-5C9A-9B8A-008DB7ED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9D6AD-B70B-08DD-A8D6-AFC66E88F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BA1F6-FFBF-D60B-BC84-FC0219904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30C77-4882-268B-A914-4664E6421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1BF1-6720-9356-81CB-B8D1F38ED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95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CCB327-50D6-DB44-6742-6A17DE653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C77E9-BF7F-6650-B190-F337B0C56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0042-F6F2-EBFD-688D-C82264A0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3B73F-4894-A01A-79E5-8DE0112B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8FA45-524F-494F-77C0-807C7567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138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AC863A-E3E5-63CE-E001-2C9311F52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3152E-95C5-BAE7-B0C7-F7C684354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EDF5-D7B6-AA3F-989C-A1DAF436D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7019B-3CBE-473F-A852-41B4E9884D2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7E570-B8FB-A3CC-9830-3845F1261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7DBD0-E867-41A1-ACA9-A5618C5B2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CDEDE-B9A9-4A26-AEA8-F99C5C2544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8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DB7628-7F1D-3060-52C1-D8BFC83394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4EAD8-484A-3D64-975F-B53A73CCC03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FB9DA-3962-9DFA-E532-ACBBC06198B2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2400" b="1">
                <a:solidFill>
                  <a:srgbClr val="38BDF8"/>
                </a:solidFill>
                <a:latin typeface="Segoe UI" panose="020B0502040204020203" pitchFamily="34" charset="0"/>
              </a:rPr>
              <a:t>DocuQuery AI: Enterprise RAG Platform</a:t>
            </a:r>
            <a:endParaRPr lang="en-IN" sz="24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4D136-246C-18E1-B6A7-40CD66013AAF}"/>
              </a:ext>
            </a:extLst>
          </p:cNvPr>
          <p:cNvSpPr txBox="1"/>
          <p:nvPr/>
        </p:nvSpPr>
        <p:spPr>
          <a:xfrm>
            <a:off x="508000" y="1016000"/>
            <a:ext cx="11176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94A3B8"/>
                </a:solidFill>
                <a:latin typeface="Segoe UI" panose="020B0502040204020203" pitchFamily="34" charset="0"/>
              </a:rPr>
              <a:t>Java Project Based Learning (PBL) - 5th Semester | Dept. of CSE
Arya College of Engineering and I.T., Jaipur
Mentor: Er. Ram Babu Buri
Team: Aryan Kumar Singh (Lead), Awantika Jaiswal, Devansh Maini, Aviral Joshi, Akshita Mawaliya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7919E-6ED6-E510-54D3-D86F061DAF86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Aryan Kumar Singh (Team Leader)</a:t>
            </a:r>
            <a:endParaRPr lang="en-IN" sz="1200" b="1">
              <a:solidFill>
                <a:srgbClr val="A855F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6A982-B353-F2F4-C9B3-D9DD27419D58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409535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3DB6FE-7935-2CEB-16AA-0E61AA1D25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216A95-670A-0B40-D1F2-FBCEB7F609C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4E094-2959-9ED6-F0A6-9D98C3590053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38BDF8"/>
                </a:solidFill>
                <a:latin typeface="Segoe UI" panose="020B0502040204020203" pitchFamily="34" charset="0"/>
              </a:rPr>
              <a:t>Problem Statement and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AB54E-1646-63B1-4BE9-D9DA76E347B2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Challenges in Enterprise and Academic Knowledge Retrieval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0F54C-56FC-3810-D7B7-31426F2AB978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Aryan Kumar Singh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810CA6-8A26-E5A9-79DB-3970B2DCDA67}"/>
              </a:ext>
            </a:extLst>
          </p:cNvPr>
          <p:cNvSpPr txBox="1"/>
          <p:nvPr/>
        </p:nvSpPr>
        <p:spPr>
          <a:xfrm>
            <a:off x="508000" y="1905000"/>
            <a:ext cx="111760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F1F5F9"/>
                </a:solidFill>
                <a:latin typeface="Segoe UI" panose="020B0502040204020203" pitchFamily="34" charset="0"/>
              </a:rPr>
              <a:t>[*]  Hallucination Risk: Foundation LLMs fabricate convincing but false facts on domain-specific corpora.
[*]  Knowledge Cutoff: Pre-trained models cannot access newly released syllabi, papers, or local university guidelines.
[*]  Keyword Search Inadequacy: Traditional keyword engines miss semantic and conceptual context.
[*]  Enterprise Privacy: Academic institutions require strict private on-premise or sovereign cloud hosting.</a:t>
            </a:r>
            <a:endParaRPr lang="en-IN" sz="1500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DF927-C7F2-AE02-D0B6-8B7930B69FE8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140743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80B635-C71F-067F-7A56-FD8F3F7DE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A6DAEE-112F-63E4-828E-1A6CF34562F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0F391-038A-89DD-52B7-9E9F9FA34BC6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38BDF8"/>
                </a:solidFill>
                <a:latin typeface="Segoe UI" panose="020B0502040204020203" pitchFamily="34" charset="0"/>
              </a:rPr>
              <a:t>Proposed Solution: DocuQuery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40D30-E92F-1F57-1D76-D7F61FCCC634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94A3B8"/>
                </a:solidFill>
                <a:latin typeface="Segoe UI" panose="020B0502040204020203" pitchFamily="34" charset="0"/>
              </a:rPr>
              <a:t>Deterministic Retrieval-Augmented Generation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727F0-D711-2F6F-1C30-E874FEBDE614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Aryan Kumar Singh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D79B0-43CA-97F6-53AC-F1A6607D073B}"/>
              </a:ext>
            </a:extLst>
          </p:cNvPr>
          <p:cNvSpPr txBox="1"/>
          <p:nvPr/>
        </p:nvSpPr>
        <p:spPr>
          <a:xfrm>
            <a:off x="508000" y="1905000"/>
            <a:ext cx="111760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Java Spring Boot 3 Backend: Type-safe, high-throughput microservice handling retrieval and streaming.
[*]  Neon PostgreSQL with pgvector: Unified relational and vector database with sub-100ms HNSW cosine lookups.
[*]  Electron + React 18 Desktop Shell: Cross-platform desktop interface with native IPC and drag-and-drop ingestion.
[*]  Automated RAG Triad Evaluation: Real-time scoring of Context Relevance, Faithfulness, and Answer Relevance.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15715-3CAF-1004-3133-308E4C9C9F9F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738086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EDA60-802A-63A4-80AB-C3124A3608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18C19-6AEE-E21A-7C6B-5DF6CFE0B07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A6190-DF55-6F20-A388-B4F4B945F48E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38BDF8"/>
                </a:solidFill>
                <a:latin typeface="Segoe UI" panose="020B0502040204020203" pitchFamily="34" charset="0"/>
              </a:rPr>
              <a:t>End-to-End 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C5B9BE-0466-ABDC-0AA2-7E2A9E4734E7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Data Flow: Client -&gt; Spring Boot -&gt; Neon pgvector -&gt; LLM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5FDB2-A3C8-1CA2-041B-AECF5AB374AC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Aryan Kumar Singh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EC0AE-6E8B-CCD3-937F-0115255361C1}"/>
              </a:ext>
            </a:extLst>
          </p:cNvPr>
          <p:cNvSpPr txBox="1"/>
          <p:nvPr/>
        </p:nvSpPr>
        <p:spPr>
          <a:xfrm>
            <a:off x="508000" y="1905000"/>
            <a:ext cx="11176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Step 1: User submits query via Electron Desktop UI (/api/rag/chat).
[*]  Step 2: Spring Security validates JWT token and Bucket4j enforces rate limits.
[*]  Step 3: Query is converted to 1536-dimensional dense embedding vector.
[*]  Step 4: Neon PostgreSQL executes HNSW cosine distance search returning Top-4 chunks in under 94ms.
[*]  Step 5: Spring AI prompt engine injects context chunks with anti-hallucination constraints.
[*]  Step 6: LLM streams response token-by-token over Server-Sent Events (SSE) with verifiable citations.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FA4FB-65A2-628E-89AC-BFB9876174FD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2667179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4FA5A3-3A73-6B6B-AD37-4B853CF934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28AFFB-F03B-451D-DE3F-9386A66E559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B4B1D-CCA7-9C57-47F7-99C1CDB37C0F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38BDF8"/>
                </a:solidFill>
                <a:latin typeface="Segoe UI" panose="020B0502040204020203" pitchFamily="34" charset="0"/>
              </a:rPr>
              <a:t>Module 1: Core RAG Engine &amp; LLM Orchestration</a:t>
            </a:r>
            <a:endParaRPr lang="en-IN" sz="24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4863C-3FB0-4AE6-56F9-99578D2DBDE1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Owner: Aryan Kumar Singh (Team Leader) | Branch: feature/member1-rag-engine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9E3CF-BD08-40F4-F388-79AC9E774E25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Aryan Kumar Singh (Lead)</a:t>
            </a:r>
            <a:endParaRPr lang="en-IN" sz="1200" b="1">
              <a:solidFill>
                <a:srgbClr val="A855F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D24C5-2515-DC76-E45C-4051509F04EB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Spring AI RAG Orchestration Service: Coordinates embedding generation and vector lookup.
[*]  Prompt Template Guardrails: Injects explicit boundaries ('Answer only from context, else state unknown').
[*]  Dynamic Token Budgeting: Allocates context window tokens to ensure zero truncation.
[*]  Server-Sent Events (SSE) Controller: Real-time token streaming to Electron frontend.
[*]  Dynamic Citation Linker: Appends verifiable chunk IDs and page numbers directly to responses.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2380E-E34B-7DC8-9DE3-C690D6D46FAE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162159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450EA8-12D4-FBA8-DA3C-D51F1E32EB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7ADEB-F47F-42A0-FB3C-A26801A219D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ED942-516F-00B6-C9C3-B258D1EDEA9C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38BDF8"/>
                </a:solidFill>
                <a:latin typeface="Segoe UI" panose="020B0502040204020203" pitchFamily="34" charset="0"/>
              </a:rPr>
              <a:t>Module 2: Document Ingestion, Parsing &amp; Chunking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2DD27-38A9-2A57-2B3E-0E23D00BB227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Owner: Awantika Jaiswal | Branch: feature/member2-doc-ingestion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E54DF-910E-5AC8-5AB0-949A206A66DF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Awantika Jaiswal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9F32F-EBC5-7BA6-D7D0-91278C52FF30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Multi-Format Extraction: Apache Tika and PDFBox 3 parse PDF, DOCX, TXT, and Markdown up to 25MB.
[*]  Recursive Sliding-Window Chunker: 500-token window with 50-token overlap.
[*]  Sentence Boundary Preservation: Java BreakIterator prevents breaking sentences across chunk boundaries.
[*]  Asynchronous Task Queue: Spring @Async ThreadPoolTaskExecutor prevents UI blocking.
[*]  Document Lifecycle Status: Real-time state transitions (UPLOADED -&gt; PARSING -&gt; CHUNKED -&gt; INDEXED).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F5A22-EAB6-1A5D-BC46-AA7812C8E24C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91862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6BAF3B-A185-F7D7-45F0-38EBDA02DD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5E25A-0176-5634-E25D-1C8C589F094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44E66-5B62-F0AC-660A-D3DDF54619E2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38BDF8"/>
                </a:solidFill>
                <a:latin typeface="Segoe UI" panose="020B0502040204020203" pitchFamily="34" charset="0"/>
              </a:rPr>
              <a:t>Module 3: Neon PostgreSQL Vector Store &amp; Security</a:t>
            </a:r>
            <a:endParaRPr lang="en-IN" sz="24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6E43D-8E58-6813-7BBF-1E8270482E64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Owner: Devansh Maini | Branch: feature/member3-database-security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71E64-2CC8-2467-2D7D-E50FE380BB4F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Devansh Maini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59B92-C1B4-2ADF-39D9-94F33DF8DD26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Serverless PostgreSQL: Neon cloud instance configured with PgBouncer connection pooling.
[*]  pgvector HNSW Indexing: vector(1536) columns with vector_cosine_ops (m=16, ef_construction=64).
[*]  Spring Security 6: Stateless SessionCreationPolicy with HMAC-SHA256 JWT tokens.
[*]  Role-Based Access Control: Granular permissions for ROLE_ADMIN, ROLE_RESEARCHER, and ROLE_STUDENT.
[*]  API Rate Limiting: Bucket4j token bucket algorithm enforcing max 30 requests/minute per IP.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110D0-89E1-2413-8C67-7B2810D3158E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1490754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7000E4-9B77-E9BC-44EE-8CAA15F0A0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3AFB6E-EC6B-A27E-F486-3BAA839EB0C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ED343-8548-E8F6-1AFA-B88ECAA3A1AD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38BDF8"/>
                </a:solidFill>
                <a:latin typeface="Segoe UI" panose="020B0502040204020203" pitchFamily="34" charset="0"/>
              </a:rPr>
              <a:t>Module 4: React UI &amp; Electron Desktop Integration</a:t>
            </a:r>
            <a:endParaRPr lang="en-IN" sz="24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894AA-D5F6-4CA5-9379-CAC3E6843FC2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Owner: Aviral Joshi | Branch: feature/member4-ui-electron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A4D2E-C90F-9986-4DFF-2D270660C826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Aviral Joshi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AE4A4-5C51-C39E-D237-78FE3E28DCF5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Electron 30 Desktop Frame: Secure contextIsolation and sandboxed preload IPC bridge.
[*]  React 18 + TypeScript SPA: Tailwind CSS dark-mode styling with Lucide icons.
[*]  Streaming Markdown Chat: Real-time token consumption with code syntax highlighting and KaTeX math.
[*]  Interactive Citation Inspector: Clickable badges opening exact source excerpts and similarity scores.
[*]  Document Workspace: Drag-and-drop upload zone with real-time indexing status progress bars.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6495C-E4B8-637D-D869-FE042FF59A9F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1472101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3DDF23-76A6-7AE8-1992-AECB4B22B8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3B4EB3-193B-B173-0EDD-34221BBCDAD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2033A-EE0D-DF88-E86F-7C49B6DFC0FC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38BDF8"/>
                </a:solidFill>
                <a:latin typeface="Segoe UI" panose="020B0502040204020203" pitchFamily="34" charset="0"/>
              </a:rPr>
              <a:t>Module 5: RAG Triad Evaluation &amp; Admin Telemetry</a:t>
            </a:r>
            <a:endParaRPr lang="en-IN" sz="24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0B094-2B55-F66A-F39D-2E692D5C6E28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Owner: Akshita Mawaliya | Branch: feature/member5-analytics-evaluation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CA955-9B0E-6239-A1F0-C188F39B768E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Akshita Mawaliya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DBD6E-6507-6980-FD49-FF3EBA3A363A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RAG Triad Metrics: Context Relevance, Groundedness (Faithfulness), and Answer Relevance.
[*]  Admin Telemetry Dashboard: Recharts visualization of query volume, latency histograms, and index size.
[*]  Automated Testing Suite: JUnit 5 and Mockito test cases achieving 84.6% branch coverage.
[*]  Golden Dataset Benchmark: 50 ground-truth academic Q&amp;A pairs evaluated continuously.
[*]  Hallucination Auditing: Tracks factual consistency and logs low-confidence queries.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A98CFA-D67B-1F2C-EF24-AF37E9C84CD0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4183036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FF7DF1-E160-60E8-A62C-3A2657A903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5FE8EB-36A4-4171-2829-1C30CFB0A49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6975D-57C0-3FA6-D3D6-1E2037FD67B8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38BDF8"/>
                </a:solidFill>
                <a:latin typeface="Segoe UI" panose="020B0502040204020203" pitchFamily="34" charset="0"/>
              </a:rPr>
              <a:t>Experimental Results &amp; RAG Triad Scores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3AD44-91E5-D38C-A86E-A6A17A84C0F3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94A3B8"/>
                </a:solidFill>
                <a:latin typeface="Segoe UI" panose="020B0502040204020203" pitchFamily="34" charset="0"/>
              </a:rPr>
              <a:t>Quantitative Evaluation on 50 Technical Q&amp;A Benchmark Pairs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E44D6E-9F6D-5803-F717-B408355CFEE4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Akshita Mawaliya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53114-BAF6-2329-F7F4-31B2630798EA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Context Relevance: 88.6% (Target &gt; 80%) - Retrieved chunks strictly pertinent to user query.
[*]  Faithfulness / Groundedness: 92.4% (Target &gt; 85%) - Claims strictly entailed by retrieved context.
[*]  Answer Relevance: 90.1% (Target &gt; 85%) - Semantic alignment with user intent.
[*]  Hallucination Rate: 3.2% - Well below industry benchmark of 15-20%.
[*]  Average Vector Retrieval Latency: 94 ms - Sub-100ms cosine similarity lookup in Neon pgvector.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44330-B36E-D237-C705-60A03444C009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2751817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15CFC2-97A0-540D-13E7-3484587886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307FE-E543-5410-F731-45205B36EE3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3E441-CF91-DB65-ADEE-B5E650D0E63B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38BDF8"/>
                </a:solidFill>
                <a:latin typeface="Segoe UI" panose="020B0502040204020203" pitchFamily="34" charset="0"/>
              </a:rPr>
              <a:t>Performance Benchmarking &amp; Concurrency (JMeter)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34CB7-C148-269B-4551-2F4F152C36F5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Stress Analysis Under 50 Concurrent Virtual Users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CD6E8-948A-8F20-0644-C738E530D400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Devansh Maini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A311B-219B-5252-C9B1-FB1356D91535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Throughput: 42.4 requests/second sustained over 10-minute continuous execution.
[*]  First-Token Latency (p99): 850 ms over local network streaming.
[*]  HTTP Error Rate: 0.0% (Zero connection drops under PgBouncer connection pooling).
[*]  Memory Stability: Spring Boot JVM heap stabilized below 480MB under continuous Garbage Collection.
[*]  Desktop Client RAM: Electron client consumes under 150MB RAM in idle state.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2F7B0-90A8-83F8-7B6B-F8B16EB54496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4243082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38803E-E207-877B-0577-3C909EA50E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83E03E-BBC2-8C37-F172-22442EB8627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9C7B5-B499-C576-FD86-40D97481B843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38BDF8"/>
                </a:solidFill>
                <a:latin typeface="Segoe UI" panose="020B0502040204020203" pitchFamily="34" charset="0"/>
              </a:rPr>
              <a:t>Desktop Application User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08847-1800-9D56-2B22-6FF9E131EC79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Walkthrough of Core Operational Screens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8641F-75EF-AC79-5795-D0561049C8DE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Aviral Joshi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D8ECE-E358-F904-29F2-78B5015E2B7C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1. Real-Time Chat Canvas: Fast token streaming, Markdown formatting, code copy buttons.
[*]  2. Interactive Citation Badges: Displays document name, page number, and similarity score.
[*]  3. Source Excerpt Modal: Opens instant verbatim passage from source PDF for immediate verification.
[*]  4. Document Management: Drag-and-drop multi-file upload with live parsing progress.
[*]  5. Admin Telemetry Panel: Live display of query counts, average latencies, and Triad scores.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A81A8-C2E1-3A5A-2565-0EF8914D40BF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267288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6A7D54-0EBA-7A36-5C9D-3CF3AA58EA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B6E2F3-8AB5-9C23-0BA2-EDBD097A358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DE477-B89A-1B8F-6A2E-2B84B9EE8833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2400" b="1">
                <a:solidFill>
                  <a:srgbClr val="38BDF8"/>
                </a:solidFill>
                <a:latin typeface="Segoe UI" panose="020B0502040204020203" pitchFamily="34" charset="0"/>
              </a:rPr>
              <a:t>Arya College PBL Multi-Branch Governance</a:t>
            </a:r>
            <a:endParaRPr lang="en-IN" sz="24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3E481-EC72-3466-ACBD-D4D16AB0BD46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GitHub Structure and Team Compliance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85359-A693-1E3C-32DF-394370E19E7A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Aryan Kumar Singh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24E4A-53BC-1667-F56F-CBAE660D1770}"/>
              </a:ext>
            </a:extLst>
          </p:cNvPr>
          <p:cNvSpPr txBox="1"/>
          <p:nvPr/>
        </p:nvSpPr>
        <p:spPr>
          <a:xfrm>
            <a:off x="508000" y="1905000"/>
            <a:ext cx="11176000" cy="35548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main branch: Production release branch tagged with v1.0.0.
[*]  develop branch: Integration branch merging all 5 completed features.
[*]  feature/member1-rag-engine: Aryan Kumar Singh (Lead RAG orchestrator).
[*]  feature/member2-doc-ingestion: Awantika Jaiswal (Apache Tika and chunker).
[*]  feature/member3-database-security: Devansh Maini (Neon pgvector and JWT).
[*]  feature/member4-ui-electron: Aviral Joshi (React and Electron desktop).
[*]  feature/member5-analytics-evaluation: Akshita Mawaliya (RAG Triad and QA).
[*]  Compliance: Minimum 3 commits per student per week verified across all 14 project weeks.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20425-1D39-88E8-89D9-436997D44A1B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4072899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E3340A-5E7E-CDD5-D4C9-4648BB1D17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63E527-DC12-2601-B03B-65DAED358FB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D7DF8-3768-F89B-39EC-4293A975F017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38BDF8"/>
                </a:solidFill>
                <a:latin typeface="Segoe UI" panose="020B0502040204020203" pitchFamily="34" charset="0"/>
              </a:rPr>
              <a:t>Key Architectural Contributions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2A5E2-FBA3-6471-7EB3-99EF66A22DA7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Why DocuQuery AI Solves the Enterprise Problem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4323F-56FC-D79B-79D3-71356507E269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Aryan Kumar Singh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F8BED9-40DC-CCDA-4842-99D0E7EBAD98}"/>
              </a:ext>
            </a:extLst>
          </p:cNvPr>
          <p:cNvSpPr txBox="1"/>
          <p:nvPr/>
        </p:nvSpPr>
        <p:spPr>
          <a:xfrm>
            <a:off x="508000" y="1905000"/>
            <a:ext cx="111760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Eliminated Database Sprawl: Unifies relational business data and vector embeddings in PostgreSQL.
[*]  Strict Hallucination Elimination: Achieved 92.4% factual groundedness on academic research papers.
[*]  High Throughput &amp; Low Latency: Sub-100ms vector lookup using tuned HNSW cosine indexing.
[*]  Production-Grade Cross-Platform Client: Packaged desktop installer with native IPC security.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AE293-C524-8047-F0D7-C811FE74691E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2782611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CEF5D3-508B-9801-2736-7EC95079FF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F10A8-E755-9906-3AA9-1B97AB2D387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1E938-E50D-FD98-7963-CF50C0ACD9C6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38BDF8"/>
                </a:solidFill>
                <a:latin typeface="Segoe UI" panose="020B0502040204020203" pitchFamily="34" charset="0"/>
              </a:rPr>
              <a:t>Thank You! / Q&amp;A Session</a:t>
            </a:r>
            <a:endParaRPr lang="en-IN" sz="24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9A2A8-4C3C-E371-D7A0-AEF84E1AFDC1}"/>
              </a:ext>
            </a:extLst>
          </p:cNvPr>
          <p:cNvSpPr txBox="1"/>
          <p:nvPr/>
        </p:nvSpPr>
        <p:spPr>
          <a:xfrm>
            <a:off x="508000" y="10160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Ready for External Viva Voce Examination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72EA3-E2B9-D14D-15B5-4904A5898291}"/>
              </a:ext>
            </a:extLst>
          </p:cNvPr>
          <p:cNvSpPr txBox="1"/>
          <p:nvPr/>
        </p:nvSpPr>
        <p:spPr>
          <a:xfrm>
            <a:off x="508000" y="1460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A855F7"/>
                </a:solidFill>
                <a:latin typeface="Segoe UI" panose="020B0502040204020203" pitchFamily="34" charset="0"/>
              </a:rPr>
              <a:t>Speaker: All 5 Team Members</a:t>
            </a:r>
            <a:endParaRPr lang="en-IN" sz="1200" b="1">
              <a:solidFill>
                <a:srgbClr val="A855F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D0E23-12A3-6BBC-2ADF-CD95DD73C834}"/>
              </a:ext>
            </a:extLst>
          </p:cNvPr>
          <p:cNvSpPr txBox="1"/>
          <p:nvPr/>
        </p:nvSpPr>
        <p:spPr>
          <a:xfrm>
            <a:off x="508000" y="1905000"/>
            <a:ext cx="11176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>
                <a:solidFill>
                  <a:srgbClr val="F1F5F9"/>
                </a:solidFill>
                <a:latin typeface="Segoe UI" panose="020B0502040204020203" pitchFamily="34" charset="0"/>
              </a:rPr>
              <a:t>[*]  Arya College of Engineering and I.T., Jaipur - Dept. of Computer Science and Engineering
[*]  Course: Java Projects (PBL) - 5th Semester (A.Y. 2026-27)
[*]  Project Guide / Mentor: Er. Ram Babu Buri (Assistant Professor)
[*]  Team Members: Aryan Kumar Singh, Awantika Jaiswal, Devansh Maini, Aviral Joshi, Akshita Mawaliya
[*]  Live Demonstration &amp; Code Review Ready!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D6AB3-204E-DB0F-F9D8-8068BC5357E2}"/>
              </a:ext>
            </a:extLst>
          </p:cNvPr>
          <p:cNvSpPr txBox="1"/>
          <p:nvPr/>
        </p:nvSpPr>
        <p:spPr>
          <a:xfrm>
            <a:off x="508000" y="64135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64748B"/>
                </a:solidFill>
                <a:latin typeface="Segoe UI" panose="020B0502040204020203" pitchFamily="34" charset="0"/>
              </a:rPr>
              <a:t>Arya College of Engineering &amp; I.T., Jaipur | Java PBL (5th Sem) | Mentor: Er. Ram Babu Buri</a:t>
            </a:r>
          </a:p>
        </p:txBody>
      </p:sp>
    </p:spTree>
    <p:extLst>
      <p:ext uri="{BB962C8B-B14F-4D97-AF65-F5344CB8AC3E}">
        <p14:creationId xmlns:p14="http://schemas.microsoft.com/office/powerpoint/2010/main" val="231656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1952</Words>
  <Application>Microsoft Office PowerPoint</Application>
  <PresentationFormat>Custom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PF68AL6W@outlook.com</dc:creator>
  <cp:lastModifiedBy>PF68AL6W@outlook.com</cp:lastModifiedBy>
  <cp:revision>1</cp:revision>
  <dcterms:created xsi:type="dcterms:W3CDTF">2026-10-13T16:09:55Z</dcterms:created>
  <dcterms:modified xsi:type="dcterms:W3CDTF">2026-10-13T16:09:56Z</dcterms:modified>
</cp:coreProperties>
</file>