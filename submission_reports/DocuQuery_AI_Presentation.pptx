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8E3E-E93D-B2FA-3FDA-6F2C2B8C0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56DEAD-5195-B802-1225-41276CDB7F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CF4CFE-8B97-83D2-3961-700F83877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E043F-4B2C-A509-DBED-D6D97843A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A633B-D72A-40B1-4824-717CF5200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7462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436F1-4A0A-8102-0DEF-6ED3848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CA76D-20B3-FE2E-B7C7-45D11E9D70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1525C-D0E5-4006-A9CB-4DF02985F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C7BF5-AF54-BC64-6C2C-68C6947FD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FA3CA-F522-8068-61FC-2A1F9C4B0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7749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BAA92-83A1-7AB4-A4AE-4987CCFC7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587EC-7181-50BC-FC09-591F5DDBE2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2343D1-B1DF-E38D-9109-D29A855E0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601F5-AE98-B2D8-2C74-FFF31A4FD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4E9A4-186B-1038-7430-721D79E4C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7274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B3BB6-6305-05AD-102D-2ED039888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65793-57D5-7B93-40DA-C3414D390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475DC-C49F-462E-DFBB-0E3172999F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047FE0-3599-5AF5-0FFD-A61F06849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B7CE20-BEFF-9C78-D3C6-F3218B582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48ACC9-D399-004B-12CC-2DBF13A9D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2671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67422-341B-B46B-26B1-CB5FC645B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4272-8B1A-2189-B970-B57D51A47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4E0E3B-D0DD-F5D1-9B5A-F875772828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836857-8505-91F2-D949-32C3EA967B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E92D95-B5F5-5325-0386-C77ED28367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5DEE00-E41F-906F-ABD3-5169805CA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3CDC61-7C4C-1DD9-B56D-97FC2142C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B69373-DDAE-6C5A-CD92-E64B7F510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8617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065EE-BEF5-3443-0688-F63303840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313CB8-4BC1-8DEA-5E93-6B1004F72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BD674-A53A-D64B-40F7-2724B4D0E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94D156-61E2-1458-5164-D4E27612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518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B99D90-920C-782B-AA6E-14A145A59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182693-24D4-834B-28D2-6B75BDCEC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9486B-B460-7CAD-B104-EB60B668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7887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82166-94A6-41C2-F460-396D0F630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1D64B-6EDE-FD19-32B0-32C587D44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C80366-E538-6CD3-0C8E-B85A6AC60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B375F2-7B76-176B-C19A-BE188A8C3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01658F-ABE4-C35B-E10C-EE149FEC8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44E4FC-D0BF-FB03-42A6-E638F297C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20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4EE92-3C41-9123-DB76-BDFBD1529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4ED1BE-CD7B-3A88-632E-23867E3956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96F0D7-1EBA-DACE-5340-8A0F570353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A45BA-8F0D-03B0-392C-59EA96F3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396ED8-6D6F-34B2-2239-92261DDBC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A6B34-9534-B8F4-F65A-52C5D21F1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6020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AD81D-E407-A78A-1DEA-1B46AA657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223541-48A7-C593-BA53-E9D12B970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E3FF3-6969-D1C6-37F8-39794C097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60DF53-2B6A-9385-AFE5-12A0E10EC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04257-1BEC-4FD7-9AEA-7B7DBD0EB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61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B66E91-C5A6-64C7-78BD-DA3F8EC4F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BB2CC-99BE-6709-9FD2-D26DB60D5B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D9CE7D-0D11-87B9-4454-F74DBEC71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639A6-0D2D-73DD-30B2-25F23A22D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ACC9D-BB59-89B7-220D-FDFF6ADA2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0672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C55884-C06E-C45D-1AF1-5CA231006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2E13AE-2D28-9B82-2BD3-1F2068E63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D2CCD-FBF4-FFC0-10E0-8402A15B2D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59C9E7-27AD-49B0-9749-76DA7CA1A074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9D0097-6911-7D90-8190-2CAAD78AF9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D7514-164D-C3D1-5860-A73B1386ED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1A5ED-373C-43E3-A30A-7C89C8477F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826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8B75C8-C745-04C8-E4AD-1E4D9615354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0428D5-C526-E91F-C271-A794DB3AD787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FE680-6669-D55D-169D-361327DC6975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it-IT" sz="2400" b="1">
                <a:solidFill>
                  <a:srgbClr val="38BDF8"/>
                </a:solidFill>
                <a:latin typeface="Segoe UI" panose="020B0502040204020203" pitchFamily="34" charset="0"/>
              </a:rPr>
              <a:t>DocuQuery AI: Enterprise RAG Platform</a:t>
            </a:r>
            <a:endParaRPr lang="en-IN" sz="24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6191F0-4DA9-029B-21F8-3A6BB7D76FB2}"/>
              </a:ext>
            </a:extLst>
          </p:cNvPr>
          <p:cNvSpPr txBox="1"/>
          <p:nvPr/>
        </p:nvSpPr>
        <p:spPr>
          <a:xfrm>
            <a:off x="508000" y="1016000"/>
            <a:ext cx="11176000" cy="109260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300">
                <a:solidFill>
                  <a:srgbClr val="94A3B8"/>
                </a:solidFill>
                <a:latin typeface="Segoe UI" panose="020B0502040204020203" pitchFamily="34" charset="0"/>
              </a:rPr>
              <a:t>Java Project Based Learning (PBL) - 5th Semester | Dept. of CSE
Arya College of Engineering and I.T., Jaipur
Mentor: Er. Ram Babu Buri
Team: Shaurya Dixit (Lead), Yashvardhan Singh Chauhan, Vaibhav Tank, Rajveer Singh Ranawat, Yashpal Singh Bhati
Data Source: Kaggle Academic Research Paper Corpus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173F78-2371-9685-9054-CBDB1AA9F96D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Shaurya Dixit (Team Leader)</a:t>
            </a:r>
            <a:endParaRPr lang="en-IN" sz="1200" b="1">
              <a:solidFill>
                <a:srgbClr val="A855F7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6ABBE8-A226-5612-6C61-C9C24D548EAB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858356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0DE8A4-CCD8-CA47-5F4A-0384521DDFF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1A7F51-2ACC-DDB0-EA31-D44446BB9B12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D249C8-7435-76C4-94D3-1441A2F1D640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38BDF8"/>
                </a:solidFill>
                <a:latin typeface="Segoe UI" panose="020B0502040204020203" pitchFamily="34" charset="0"/>
              </a:rPr>
              <a:t>Problem Statement and Motivation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6A7AA1-8FE0-0368-E427-0E73A53FE814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Challenges in Enterprise and Academic Knowledge Retrieval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265BC0-BAEC-C8A1-24EA-AD427DA36F3A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Shaurya Dixit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D6DD0-9D6B-6C35-4C7F-F59A85B33943}"/>
              </a:ext>
            </a:extLst>
          </p:cNvPr>
          <p:cNvSpPr txBox="1"/>
          <p:nvPr/>
        </p:nvSpPr>
        <p:spPr>
          <a:xfrm>
            <a:off x="508000" y="1905000"/>
            <a:ext cx="11176000" cy="170816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500">
                <a:solidFill>
                  <a:srgbClr val="F1F5F9"/>
                </a:solidFill>
                <a:latin typeface="Segoe UI" panose="020B0502040204020203" pitchFamily="34" charset="0"/>
              </a:rPr>
              <a:t>[*]  Hallucination Risk: Foundation LLMs fabricate convincing but false facts on domain-specific corpora.
[*]  Knowledge Cutoff: Pre-trained models cannot access newly released research papers or internal institution documents.
[*]  Keyword Search Inadequacy: Traditional keyword engines miss semantic and conceptual context in research literature.
[*]  Academic Data Grounding: Evaluating RAG on Kaggle academic research paper datasets requires deterministic verification.</a:t>
            </a:r>
            <a:endParaRPr lang="en-IN" sz="1500">
              <a:solidFill>
                <a:srgbClr val="F1F5F9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41E5DE-5DE0-65FF-7DB4-D2AA3E47E5D8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2368183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2884F1-8F14-EBD5-78C9-C392153A04A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396013-3BAC-BE97-E85D-E8D89A27FC50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F3AFA8-4CC9-EB0F-085E-D19CA0FB0A71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38BDF8"/>
                </a:solidFill>
                <a:latin typeface="Segoe UI" panose="020B0502040204020203" pitchFamily="34" charset="0"/>
              </a:rPr>
              <a:t>Proposed Solution: DocuQuery AI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C895A-46BB-88BB-0476-85FA19A210EF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300">
                <a:solidFill>
                  <a:srgbClr val="94A3B8"/>
                </a:solidFill>
                <a:latin typeface="Segoe UI" panose="020B0502040204020203" pitchFamily="34" charset="0"/>
              </a:rPr>
              <a:t>Deterministic Retrieval-Augmented Generation Architecture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72CB5F-02B4-BEB3-C09B-0342BED87AA6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Shaurya Dixit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D89678-25CD-7E73-1EED-7DC3608073DF}"/>
              </a:ext>
            </a:extLst>
          </p:cNvPr>
          <p:cNvSpPr txBox="1"/>
          <p:nvPr/>
        </p:nvSpPr>
        <p:spPr>
          <a:xfrm>
            <a:off x="508000" y="1905000"/>
            <a:ext cx="11176000" cy="170816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Java Spring Boot 3 Backend: Type-safe, high-throughput microservice handling retrieval, chunking, and streaming.
[*]  Neon PostgreSQL with pgvector: Unified relational and vector database with sub-100ms HNSW cosine lookups.
[*]  Electron + React 18 Desktop Shell: Cross-platform desktop interface with native IPC and drag-and-drop ingestion.
[*]  Automated RAG Triad Evaluation: Real-time scoring of Context Relevance, Faithfulness, and Answer Relevance.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D819D0-0390-156A-EA7F-3C72C2CFA8FD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2664206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320221-7AB1-E592-5FCF-17B0D47B870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1281DD-B6FE-D89D-BF8E-40CA430A182D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0177DF-B597-3603-08BF-C293EEE05B4E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38BDF8"/>
                </a:solidFill>
                <a:latin typeface="Segoe UI" panose="020B0502040204020203" pitchFamily="34" charset="0"/>
              </a:rPr>
              <a:t>End-to-End System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BC0AAD-0C6F-058F-F91E-B4BF22E65EF7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Data Flow: Client -&gt; Spring Boot -&gt; Neon pgvector -&gt; LLM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1351F3-74EB-3EB3-2512-CC20B2B5B3EA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Shaurya Dixit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29B250-8361-9886-144B-DC38A3698D76}"/>
              </a:ext>
            </a:extLst>
          </p:cNvPr>
          <p:cNvSpPr txBox="1"/>
          <p:nvPr/>
        </p:nvSpPr>
        <p:spPr>
          <a:xfrm>
            <a:off x="508000" y="1905000"/>
            <a:ext cx="11176000" cy="263149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Step 1: User submits query via Electron Desktop UI or Web interface (/api/rag/chat).
[*]  Step 2: Spring Security validates JWT token and Bucket4j enforces rate limits.
[*]  Step 3: Query is converted to 1536-dimensional dense embedding vector.
[*]  Step 4: Neon PostgreSQL executes HNSW cosine distance search returning Top-4 chunks in under 94ms.
[*]  Step 5: Spring AI prompt engine injects context chunks with anti-hallucination constraints.
[*]  Step 6: LLM streams response token-by-token over Server-Sent Events (SSE) with verifiable citations.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D35DD4-79F0-1C26-74D0-0B5D84AF9241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1737275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E5B757-3288-8BD5-C1A6-8B103DDE45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5CAFC7-CB36-FAC3-9FA6-9365D2247769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F94604-71AD-D8B2-D69B-20EAD851311C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38BDF8"/>
                </a:solidFill>
                <a:latin typeface="Segoe UI" panose="020B0502040204020203" pitchFamily="34" charset="0"/>
              </a:rPr>
              <a:t>Module 1: Core RAG Engine &amp; LLM Orchestration</a:t>
            </a:r>
            <a:endParaRPr lang="en-IN" sz="24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24EE6C-9E20-149D-BEA9-24A5A649A662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Owner: Shaurya Dixit (Team Leader) | Branch: feature/member1-rag-engine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EEF28F-A8E0-C197-7466-9799FEDE7D53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Shaurya Dixit (Lead)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B524E4-8614-1A66-A9AB-AA26E452E0D9}"/>
              </a:ext>
            </a:extLst>
          </p:cNvPr>
          <p:cNvSpPr txBox="1"/>
          <p:nvPr/>
        </p:nvSpPr>
        <p:spPr>
          <a:xfrm>
            <a:off x="508000" y="1905000"/>
            <a:ext cx="11176000" cy="21698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Spring AI RAG Orchestration Service: Coordinates embedding generation and vector lookup.
[*]  Prompt Template Guardrails: Injects explicit boundaries ('Answer only from context, else state unknown').
[*]  Dynamic Token Budgeting: Allocates context window tokens to ensure zero truncation.
[*]  Server-Sent Events (SSE) Controller: Real-time token streaming to Electron frontend.
[*]  Dynamic Citation Linker: Appends verifiable chunk IDs and page numbers directly to responses.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ED7DF-0312-19CA-1CA5-2821857620F3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205833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0AA69-D69E-55C8-3FDF-5AE1AC0A0CE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914ACC-4626-B8D1-4DD9-F09E2E01B055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5E930E-E04B-EA7F-070C-79A704A2DE68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38BDF8"/>
                </a:solidFill>
                <a:latin typeface="Segoe UI" panose="020B0502040204020203" pitchFamily="34" charset="0"/>
              </a:rPr>
              <a:t>Module 2: Document Ingestion, Parsing &amp; Chunking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632D66-C6FE-6BB0-E452-657578A4C93B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300">
                <a:solidFill>
                  <a:srgbClr val="94A3B8"/>
                </a:solidFill>
                <a:latin typeface="Segoe UI" panose="020B0502040204020203" pitchFamily="34" charset="0"/>
              </a:rPr>
              <a:t>Owner: Yashvardhan Singh Chauhan | Branch: feature/member2-doc-ingestion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9FD346-B055-0057-AD11-91F7B82E90A2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Yashvardhan Singh Chauhan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0CDEC-4C75-E4FF-5706-0C89A509E806}"/>
              </a:ext>
            </a:extLst>
          </p:cNvPr>
          <p:cNvSpPr txBox="1"/>
          <p:nvPr/>
        </p:nvSpPr>
        <p:spPr>
          <a:xfrm>
            <a:off x="508000" y="1905000"/>
            <a:ext cx="11176000" cy="21698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Kaggle Dataset Curation: Ingestion of academic research papers, syllabi, and technical reports (PDF, DOCX, TXT).
[*]  Multi-Format Extraction: Apache Tika 2.9 and PDFBox 3 parse documents up to 25MB.
[*]  Recursive Sliding-Window Chunker: 500-token window with 50-token overlap.
[*]  Sentence Boundary Preservation: Java BreakIterator prevents breaking sentences across chunk boundaries.
[*]  Asynchronous Task Queue: Spring @Async ThreadPoolTaskExecutor prevents UI blocking.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6B3F8B-5694-16CF-182D-2996E334D296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2626898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B1CD45-078B-F2F0-D972-41169DFF4C1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429C4D-D05C-3E2D-D896-87C607F70746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527671-3BD0-0D3E-38E2-66A933195849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38BDF8"/>
                </a:solidFill>
                <a:latin typeface="Segoe UI" panose="020B0502040204020203" pitchFamily="34" charset="0"/>
              </a:rPr>
              <a:t>Module 3: Neon PostgreSQL Vector Store &amp; Security</a:t>
            </a:r>
            <a:endParaRPr lang="en-IN" sz="24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FCD439-9A92-BF40-4D32-43AEE2A8B97B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Owner: Vaibhav Tank | Branch: feature/member3-database-security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78EA6-ACF4-6F2B-9004-73BA20962241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Vaibhav Tank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62943-5026-0EC7-F25B-43EE464866F1}"/>
              </a:ext>
            </a:extLst>
          </p:cNvPr>
          <p:cNvSpPr txBox="1"/>
          <p:nvPr/>
        </p:nvSpPr>
        <p:spPr>
          <a:xfrm>
            <a:off x="508000" y="1905000"/>
            <a:ext cx="11176000" cy="21698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Serverless PostgreSQL: Neon cloud instance configured with PgBouncer connection pooling.
[*]  pgvector HNSW Indexing: vector(1536) columns with vector_cosine_ops (m=16, ef_construction=64).
[*]  Spring Security 6: Stateless SessionCreationPolicy with HMAC-SHA256 JWT tokens.
[*]  Role-Based Access Control: Granular permissions for ROLE_ADMIN, ROLE_RESEARCHER, and ROLE_STUDENT.
[*]  API Rate Limiting: Bucket4j token bucket algorithm enforcing max 30 requests/minute per IP.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A7D16F-674F-FEFC-A082-0B584926DDD5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3321140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6A21FB-DB85-90D9-5D99-6D44BE233A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E0D24F-9BE4-621A-EF25-CC876F8EABBA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4C9AD-17BB-6EDF-87EC-F830522885AD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38BDF8"/>
                </a:solidFill>
                <a:latin typeface="Segoe UI" panose="020B0502040204020203" pitchFamily="34" charset="0"/>
              </a:rPr>
              <a:t>Module 4: React UI &amp; Electron Desktop Integration</a:t>
            </a:r>
            <a:endParaRPr lang="en-IN" sz="24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EF427A-114B-0AFF-3A29-EDB01EE03887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Owner: Rajveer Singh Ranawat | Branch: feature/member4-ui-electron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1184AB-D9F2-8E03-F153-C5CD36D69D7D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Rajveer Singh Ranawat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67705F-86ED-373C-8345-8125B498EC03}"/>
              </a:ext>
            </a:extLst>
          </p:cNvPr>
          <p:cNvSpPr txBox="1"/>
          <p:nvPr/>
        </p:nvSpPr>
        <p:spPr>
          <a:xfrm>
            <a:off x="508000" y="1905000"/>
            <a:ext cx="11176000" cy="21698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Electron 30 Desktop Frame: Secure contextIsolation and sandboxed preload IPC bridge.
[*]  React 18 + TypeScript SPA: Tailwind CSS dark-mode styling with Lucide icons.
[*]  Streaming Markdown Chat: Real-time token consumption with code syntax highlighting and KaTeX math.
[*]  Interactive Citation Inspector: Clickable badges opening exact source excerpts and similarity scores.
[*]  Document Workspace: Drag-and-drop upload zone with real-time indexing status progress bars.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024100-80CD-0D4B-1571-BEA8B4567B25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3907553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144373D-8991-DE2B-995A-B476FD388C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ACEF19-7A84-8FF9-35F9-890EFC59DF66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EDE9DB-484F-E2E0-5CEE-3B1D4D539CF8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38BDF8"/>
                </a:solidFill>
                <a:latin typeface="Segoe UI" panose="020B0502040204020203" pitchFamily="34" charset="0"/>
              </a:rPr>
              <a:t>Module 5: RAG Triad Evaluation &amp; Admin Telemetry</a:t>
            </a:r>
            <a:endParaRPr lang="en-IN" sz="24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39319-69DA-261F-5E8E-78A614710452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Owner: Yashpal Singh Bhati | Branch: feature/member5-analytics-evaluation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C6968-8BE3-AD5B-5055-CC0A841AD095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Yashpal Singh Bhati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691FBE-1477-968E-421D-F2F5EE621041}"/>
              </a:ext>
            </a:extLst>
          </p:cNvPr>
          <p:cNvSpPr txBox="1"/>
          <p:nvPr/>
        </p:nvSpPr>
        <p:spPr>
          <a:xfrm>
            <a:off x="508000" y="1905000"/>
            <a:ext cx="11176000" cy="21698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RAG Triad Metrics: Context Relevance, Groundedness (Faithfulness), and Answer Relevance.
[*]  Admin Telemetry Dashboard: Recharts visualization of query volume, latency histograms, and index size.
[*]  Automated Testing Suite: JUnit 5 and Mockito test cases achieving 84.6% branch coverage.
[*]  Golden Dataset Benchmark: 50 ground-truth academic Q&amp;A pairs evaluated continuously against Kaggle dataset.
[*]  Hallucination Auditing: Tracks factual consistency and logs low-confidence queries.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561B75-52F6-4EA2-0773-21B34B7F4B69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1093844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F94256-019D-7482-1938-533F3C6308A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B8F76B-9DD8-41AC-6F3D-4C2B9B2A5B48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170DEB-2528-3C33-8171-FF3FBE682EF5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38BDF8"/>
                </a:solidFill>
                <a:latin typeface="Segoe UI" panose="020B0502040204020203" pitchFamily="34" charset="0"/>
              </a:rPr>
              <a:t>Experimental Results &amp; RAG Triad Scores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D48CF0-4A85-E00D-1471-2118A2B05878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300">
                <a:solidFill>
                  <a:srgbClr val="94A3B8"/>
                </a:solidFill>
                <a:latin typeface="Segoe UI" panose="020B0502040204020203" pitchFamily="34" charset="0"/>
              </a:rPr>
              <a:t>Quantitative Evaluation on 50 Technical Q&amp;A Benchmark Pairs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8B4E38-2D1B-1B5B-D8BD-FD6528642377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Yashpal Singh Bhati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4EF5AD-FD34-19D3-390A-74DF39C23A71}"/>
              </a:ext>
            </a:extLst>
          </p:cNvPr>
          <p:cNvSpPr txBox="1"/>
          <p:nvPr/>
        </p:nvSpPr>
        <p:spPr>
          <a:xfrm>
            <a:off x="508000" y="1905000"/>
            <a:ext cx="11176000" cy="21698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Context Relevance: 88.6% (Target &gt; 80%) - Retrieved chunks strictly pertinent to user query.
[*]  Faithfulness / Groundedness: 92.4% (Target &gt; 85%) - Claims strictly entailed by retrieved context.
[*]  Answer Relevance: 90.1% (Target &gt; 85%) - Semantic alignment with user intent.
[*]  Hallucination Rate: 3.2% - Well below industry benchmark of 15-20%.
[*]  Average Vector Retrieval Latency: 94 ms - Sub-100ms cosine similarity lookup in Neon pgvector.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38730A-C8B6-7593-EE27-4BA57488FC47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3627151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009454-912B-6365-0998-F7212402363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E7C43B-F95B-8CD9-7755-C2635203A28C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2548D-9D12-CA4D-0A91-79D9F0F52A97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38BDF8"/>
                </a:solidFill>
                <a:latin typeface="Segoe UI" panose="020B0502040204020203" pitchFamily="34" charset="0"/>
              </a:rPr>
              <a:t>Performance Benchmarking &amp; Concurrency (JMeter)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CDBD19-6E3D-B31C-4099-65BE4E1D8F49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Stress Analysis Under 50 Concurrent Virtual Users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327C37-5EF2-3DC3-F91B-69B452E5540B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Vaibhav Tank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B7B2C9-AA2F-F3CA-E74A-1B23DAE652FA}"/>
              </a:ext>
            </a:extLst>
          </p:cNvPr>
          <p:cNvSpPr txBox="1"/>
          <p:nvPr/>
        </p:nvSpPr>
        <p:spPr>
          <a:xfrm>
            <a:off x="508000" y="1905000"/>
            <a:ext cx="11176000" cy="21698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Throughput: 42.4 requests/second sustained over 10-minute continuous execution.
[*]  First-Token Latency (p99): 850 ms over local network streaming.
[*]  HTTP Error Rate: 0.0% (Zero connection drops under PgBouncer connection pooling).
[*]  Memory Stability: Spring Boot JVM heap stabilized below 480MB under continuous Garbage Collection.
[*]  Desktop Client RAM: Electron client consumes under 150MB RAM in idle state.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8211AF-FCDF-3CF3-230C-DC2A1EA7BC8F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2798590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8A28A1-9F38-4069-ECF6-477947871AF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C22C62-D3F1-751F-A5AE-7F67CA3C176E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5575CD-FCDE-CF3F-90DD-AC370C2203A5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38BDF8"/>
                </a:solidFill>
                <a:latin typeface="Segoe UI" panose="020B0502040204020203" pitchFamily="34" charset="0"/>
              </a:rPr>
              <a:t>Desktop Application User Experience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DCB172-F3B4-4101-0C8C-7348170FABE9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Walkthrough of Core Operational Screens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F49410-7ADA-C5A4-6DED-939A8AA6FD98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Rajveer Singh Ranawat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043B4A-6064-2A63-1EC6-3410A23D2CE3}"/>
              </a:ext>
            </a:extLst>
          </p:cNvPr>
          <p:cNvSpPr txBox="1"/>
          <p:nvPr/>
        </p:nvSpPr>
        <p:spPr>
          <a:xfrm>
            <a:off x="508000" y="1905000"/>
            <a:ext cx="11176000" cy="21698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1. Real-Time Chat Canvas: Fast token streaming, Markdown formatting, code copy buttons.
[*]  2. Interactive Citation Badges: Displays document name, page number, and similarity score.
[*]  3. Source Excerpt Modal: Opens instant verbatim passage from source PDF for immediate verification.
[*]  4. Document Management: Drag-and-drop multi-file upload with live parsing progress.
[*]  5. Admin Telemetry Panel: Live display of query counts, average latencies, and Triad scores.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5DC62F-4A66-FD22-4177-810371BAA8C2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37750169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1B3D7D-5BA5-48E8-4174-B001DDA2CAA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558068-A42D-8FC0-75DC-9FFF7D02C5C0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75DD65-4AF0-CF15-46F2-4DFD1EDBCE2F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it-IT" sz="2400" b="1">
                <a:solidFill>
                  <a:srgbClr val="38BDF8"/>
                </a:solidFill>
                <a:latin typeface="Segoe UI" panose="020B0502040204020203" pitchFamily="34" charset="0"/>
              </a:rPr>
              <a:t>Arya College PBL Multi-Branch Governance</a:t>
            </a:r>
            <a:endParaRPr lang="en-IN" sz="24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662B2-4E5F-737D-3314-18B9881A8D4C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GitHub Structure and Team Compliance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85465F-29C9-6AAD-E80B-646BCE783B88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Shaurya Dixit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4BA6E0-7042-1FC8-44ED-252D1871AF9E}"/>
              </a:ext>
            </a:extLst>
          </p:cNvPr>
          <p:cNvSpPr txBox="1"/>
          <p:nvPr/>
        </p:nvSpPr>
        <p:spPr>
          <a:xfrm>
            <a:off x="508000" y="1905000"/>
            <a:ext cx="11176000" cy="35548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main branch: Production release branch tagged with v1.0.0.
[*]  develop branch: Integration branch merging all 5 completed features.
[*]  feature/member1-rag-engine: Shaurya Dixit (Lead RAG orchestrator).
[*]  feature/member2-doc-ingestion: Yashvardhan Singh Chauhan (Apache Tika and chunker, Kaggle data).
[*]  feature/member3-database-security: Vaibhav Tank (Neon pgvector and JWT).
[*]  feature/member4-ui-electron: Rajveer Singh Ranawat (React and Electron desktop).
[*]  feature/member5-analytics-evaluation: Yashpal Singh Bhati (RAG Triad and QA).
[*]  Compliance: Minimum 3 commits per student per week verified across all 14 project weeks.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9E27E5-1BD4-FB55-4248-839F467E5777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1199793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9E2365-32CB-2C78-C408-0D1E5A798A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DAF14D-F479-372C-1FC6-3522D15B40D6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8C46E6-BFEF-5FB7-6FD4-89CCB711013A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2400" b="1">
                <a:solidFill>
                  <a:srgbClr val="38BDF8"/>
                </a:solidFill>
                <a:latin typeface="Segoe UI" panose="020B0502040204020203" pitchFamily="34" charset="0"/>
              </a:rPr>
              <a:t>Key Architectural Contributions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A5AE37-1978-4E53-FC4E-3D602078A0ED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Why DocuQuery AI Solves the Enterprise Problem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71BA9-1768-5E6C-C673-85402A0AD49D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Shaurya Dixit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E711B6-7969-EB38-AEB5-9F5B0543524C}"/>
              </a:ext>
            </a:extLst>
          </p:cNvPr>
          <p:cNvSpPr txBox="1"/>
          <p:nvPr/>
        </p:nvSpPr>
        <p:spPr>
          <a:xfrm>
            <a:off x="508000" y="1905000"/>
            <a:ext cx="11176000" cy="170816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Eliminated Database Sprawl: Unifies relational business data and vector embeddings in PostgreSQL.
[*]  Strict Hallucination Elimination: Achieved 92.4% factual groundedness on Kaggle research papers.
[*]  High Throughput &amp; Low Latency: Sub-100ms vector lookup using tuned HNSW cosine indexing.
[*]  Production-Grade Cross-Platform Client: Packaged desktop installer with native IPC security.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391B4F-07CF-6A18-6D30-6260072BAAC4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4040057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ED4E00-6604-AA6C-8769-24EBBD32241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BEA852-13D5-CC47-DDC1-57D70F0BE538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8BD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691D3-34F8-C0C4-1C61-8971E61135D7}"/>
              </a:ext>
            </a:extLst>
          </p:cNvPr>
          <p:cNvSpPr txBox="1"/>
          <p:nvPr/>
        </p:nvSpPr>
        <p:spPr>
          <a:xfrm>
            <a:off x="508000" y="3175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38BDF8"/>
                </a:solidFill>
                <a:latin typeface="Segoe UI" panose="020B0502040204020203" pitchFamily="34" charset="0"/>
              </a:rPr>
              <a:t>Thank You! / Q&amp;A Session</a:t>
            </a:r>
            <a:endParaRPr lang="en-IN" sz="24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21FBE8-A028-6C16-94F5-B15CC2B26514}"/>
              </a:ext>
            </a:extLst>
          </p:cNvPr>
          <p:cNvSpPr txBox="1"/>
          <p:nvPr/>
        </p:nvSpPr>
        <p:spPr>
          <a:xfrm>
            <a:off x="508000" y="1016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>
                <a:solidFill>
                  <a:srgbClr val="94A3B8"/>
                </a:solidFill>
                <a:latin typeface="Segoe UI" panose="020B0502040204020203" pitchFamily="34" charset="0"/>
              </a:rPr>
              <a:t>Ready for External Viva Voce Examination</a:t>
            </a:r>
            <a:endParaRPr lang="en-IN" sz="13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E21AD3-687D-49B9-890A-B620752619BA}"/>
              </a:ext>
            </a:extLst>
          </p:cNvPr>
          <p:cNvSpPr txBox="1"/>
          <p:nvPr/>
        </p:nvSpPr>
        <p:spPr>
          <a:xfrm>
            <a:off x="508000" y="14605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A855F7"/>
                </a:solidFill>
                <a:latin typeface="Segoe UI" panose="020B0502040204020203" pitchFamily="34" charset="0"/>
              </a:rPr>
              <a:t>Speaker: All 5 Team Members</a:t>
            </a:r>
            <a:endParaRPr lang="en-IN" sz="1200" b="1">
              <a:solidFill>
                <a:srgbClr val="A855F7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E70C49-0C9A-31A6-B8B4-B23CF3327A1D}"/>
              </a:ext>
            </a:extLst>
          </p:cNvPr>
          <p:cNvSpPr txBox="1"/>
          <p:nvPr/>
        </p:nvSpPr>
        <p:spPr>
          <a:xfrm>
            <a:off x="508000" y="1905000"/>
            <a:ext cx="11176000" cy="21698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500">
                <a:solidFill>
                  <a:srgbClr val="F1F5F9"/>
                </a:solidFill>
                <a:latin typeface="Segoe UI" panose="020B0502040204020203" pitchFamily="34" charset="0"/>
              </a:rPr>
              <a:t>[*]  Arya College of Engineering and I.T., Jaipur - Dept. of Computer Science and Engineering
[*]  Course: Java Projects (PBL) - 5th Semester (A.Y. 2026-27)
[*]  Project Guide / Mentor: Er. Ram Babu Buri (Assistant Professor)
[*]  Team Members: Shaurya Dixit, Yashvardhan Singh Chauhan, Vaibhav Tank, Rajveer Singh Ranawat, Yashpal Singh Bhati
[*]  Live Demonstration &amp; Code Review Ready!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EF422D-4680-A92F-C330-F62AC1B5BC78}"/>
              </a:ext>
            </a:extLst>
          </p:cNvPr>
          <p:cNvSpPr txBox="1"/>
          <p:nvPr/>
        </p:nvSpPr>
        <p:spPr>
          <a:xfrm>
            <a:off x="508000" y="64135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Arya College of Engineering &amp; I.T., Jaipur | Java PBL (5th Sem) | Mentor: Er. Ram Babu Buri</a:t>
            </a:r>
          </a:p>
        </p:txBody>
      </p:sp>
    </p:spTree>
    <p:extLst>
      <p:ext uri="{BB962C8B-B14F-4D97-AF65-F5344CB8AC3E}">
        <p14:creationId xmlns:p14="http://schemas.microsoft.com/office/powerpoint/2010/main" val="2269861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1982</Words>
  <Application>Microsoft Office PowerPoint</Application>
  <PresentationFormat>Custom</PresentationFormat>
  <Paragraphs>74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PF68AL6W@outlook.com</dc:creator>
  <cp:lastModifiedBy>PF68AL6W@outlook.com</cp:lastModifiedBy>
  <cp:revision>1</cp:revision>
  <dcterms:created xsi:type="dcterms:W3CDTF">2026-10-13T17:17:39Z</dcterms:created>
  <dcterms:modified xsi:type="dcterms:W3CDTF">2026-10-13T17:17:39Z</dcterms:modified>
</cp:coreProperties>
</file>